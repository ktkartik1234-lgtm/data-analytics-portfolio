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C1EBD8-D550-4048-A030-C8A7D3990994}">
  <a:tblStyle styleId="{9AC1EBD8-D550-4048-A030-C8A7D39909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2C3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91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97280" y="1061884"/>
            <a:ext cx="9144000" cy="117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C4919A"/>
              </a:buClr>
              <a:buSzPts val="1200"/>
            </a:pPr>
            <a:r>
              <a:rPr lang="en-IN" sz="3600" dirty="0"/>
              <a:t>⚓ </a:t>
            </a:r>
            <a:r>
              <a:rPr lang="en-US" sz="3600" b="1" i="0" u="none" strike="noStrike" cap="none" dirty="0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AEGISLIFE INSURANCE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97280" y="237744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BF6EF"/>
              </a:buClr>
              <a:buSzPts val="4800"/>
              <a:buFont typeface="Georgia"/>
              <a:buNone/>
            </a:pPr>
            <a:r>
              <a:rPr lang="en-US" sz="4800" b="1" i="0" u="none" strike="noStrike" cap="none">
                <a:solidFill>
                  <a:srgbClr val="FBF6EF"/>
                </a:solidFill>
                <a:latin typeface="Georgia"/>
                <a:ea typeface="Georgia"/>
                <a:cs typeface="Georgia"/>
                <a:sym typeface="Georgia"/>
              </a:rPr>
              <a:t>Risk Analytics &amp;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BF6EF"/>
              </a:buClr>
              <a:buSzPts val="4800"/>
              <a:buFont typeface="Georgia"/>
              <a:buNone/>
            </a:pPr>
            <a:r>
              <a:rPr lang="en-US" sz="4800" b="1" i="0" u="none" strike="noStrike" cap="none">
                <a:solidFill>
                  <a:srgbClr val="FBF6EF"/>
                </a:solidFill>
                <a:latin typeface="Georgia"/>
                <a:ea typeface="Georgia"/>
                <a:cs typeface="Georgia"/>
                <a:sym typeface="Georgia"/>
              </a:rPr>
              <a:t>Claims Intelligence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1097280" y="416052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8FA69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/>
          <p:nvPr/>
        </p:nvSpPr>
        <p:spPr>
          <a:xfrm>
            <a:off x="1097280" y="43891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D6D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3D6D0"/>
                </a:solidFill>
                <a:latin typeface="Calibri"/>
                <a:ea typeface="Calibri"/>
                <a:cs typeface="Calibri"/>
                <a:sym typeface="Calibri"/>
              </a:rPr>
              <a:t>Executive findings, board decisions and full data lineage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97280" y="4800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Kartik Tripathi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A3D07A-2875-05AE-14DF-6D07407CCA9A}"/>
              </a:ext>
            </a:extLst>
          </p:cNvPr>
          <p:cNvSpPr txBox="1"/>
          <p:nvPr/>
        </p:nvSpPr>
        <p:spPr>
          <a:xfrm>
            <a:off x="3323303" y="496529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BOARD BRIEF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The One-Page Bottom Line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Everything that follows supports these three numbers and three decisions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58368" y="1783080"/>
            <a:ext cx="3314090" cy="1600200"/>
          </a:xfrm>
          <a:prstGeom prst="roundRect">
            <a:avLst>
              <a:gd name="adj" fmla="val 3429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932688" y="1938528"/>
            <a:ext cx="280202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4.71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32688" y="2542032"/>
            <a:ext cx="28020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Gross loss ratio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32688" y="2798064"/>
            <a:ext cx="2765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₹4.71 of filed claim exposure per ₹1 of premium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283354" y="1783080"/>
            <a:ext cx="3314090" cy="1600200"/>
          </a:xfrm>
          <a:prstGeom prst="roundRect">
            <a:avLst>
              <a:gd name="adj" fmla="val 3429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57674" y="1938528"/>
            <a:ext cx="280202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49.0%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57674" y="2542032"/>
            <a:ext cx="28020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Claims fraud-flagged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57674" y="2798064"/>
            <a:ext cx="2765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₹29.8M of flagged claim value concentrated in North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908341" y="1783080"/>
            <a:ext cx="3314090" cy="1600200"/>
          </a:xfrm>
          <a:prstGeom prst="roundRect">
            <a:avLst>
              <a:gd name="adj" fmla="val 3429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182661" y="1938528"/>
            <a:ext cx="280202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35.9%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182661" y="2542032"/>
            <a:ext cx="28020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Claim approval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182661" y="2798064"/>
            <a:ext cx="2765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₹117.6M sits in pending claims awaiting a decision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58368" y="3794760"/>
            <a:ext cx="108749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Three decisions requested today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58368" y="4206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07008" y="4206240"/>
            <a:ext cx="97776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Fund a fraud investigation surge in North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58368" y="477316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207008" y="4773168"/>
            <a:ext cx="97776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Approve actuarial repricing of Property and Health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58368" y="5340096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207008" y="5340096"/>
            <a:ext cx="97776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Clear the ₹117.6M pending-claims backlog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4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Executive KPI dashboard · claim_history × policy_details (SQL Query #1)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PORTFOLIO OVERVIEW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Portfolio at a Glance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Full book · all regions · all product lines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58368" y="2148840"/>
            <a:ext cx="190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1,406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58368" y="272491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Total claims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833360" y="2148840"/>
            <a:ext cx="190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₹252.9K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833360" y="272491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Avg. claim amount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2696200" y="2194560"/>
            <a:ext cx="0" cy="73152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5"/>
          <p:cNvSpPr/>
          <p:nvPr/>
        </p:nvSpPr>
        <p:spPr>
          <a:xfrm>
            <a:off x="5008352" y="2148840"/>
            <a:ext cx="190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35.9%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08352" y="272491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Approval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5"/>
          <p:cNvCxnSpPr/>
          <p:nvPr/>
        </p:nvCxnSpPr>
        <p:spPr>
          <a:xfrm>
            <a:off x="4871192" y="2194560"/>
            <a:ext cx="0" cy="73152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5"/>
          <p:cNvSpPr/>
          <p:nvPr/>
        </p:nvSpPr>
        <p:spPr>
          <a:xfrm>
            <a:off x="7183344" y="2148840"/>
            <a:ext cx="190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4.71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183344" y="272491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Gross loss ratio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7046184" y="2194560"/>
            <a:ext cx="0" cy="73152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5"/>
          <p:cNvSpPr/>
          <p:nvPr/>
        </p:nvSpPr>
        <p:spPr>
          <a:xfrm>
            <a:off x="9358335" y="2148840"/>
            <a:ext cx="190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49.0%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358335" y="272491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Fraud ratio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5"/>
          <p:cNvCxnSpPr/>
          <p:nvPr/>
        </p:nvCxnSpPr>
        <p:spPr>
          <a:xfrm>
            <a:off x="9221175" y="2194560"/>
            <a:ext cx="0" cy="73152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5"/>
          <p:cNvSpPr/>
          <p:nvPr/>
        </p:nvSpPr>
        <p:spPr>
          <a:xfrm>
            <a:off x="658368" y="3794760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F3EDE4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069848" y="4041648"/>
            <a:ext cx="1005199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Two loss ratios, one book.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69848" y="4343400"/>
            <a:ext cx="1005199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4.71 measures every claim filed against premium; on approved claims only, the paid ratio is 1.69. The 3.02-point gap is the value currently sitting in pending and rejected claims.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5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5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Executive KPI dashboard — recomputed from claim_history × policy_details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WHAT THE DATA REVEALS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Regional Risk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Loss ratio and fraud exposure, side by side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58368" y="1691640"/>
            <a:ext cx="520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Loss ratio by region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" y="1965960"/>
            <a:ext cx="52088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6324448" y="1691640"/>
            <a:ext cx="520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Fraud ratio by region (%)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448" y="1965960"/>
            <a:ext cx="52088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658368" y="5212080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South carries the widest loss-ratio spread (1.1 points over North-East), while North runs 4.5 points above the 49.0% portfolio fraud average — ₹29.8M of flagged claim value.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6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Executive KPI dashboard — Loss Ratio and Fraud Ratio by Region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WHAT THE DATA REVEALS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Product Economics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Premium is spread evenly; risk is not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58368" y="1691640"/>
            <a:ext cx="520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Annual premium by product (₹M)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" y="1965960"/>
            <a:ext cx="52088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6324448" y="1691640"/>
            <a:ext cx="520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Loss ratio by product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448" y="1965960"/>
            <a:ext cx="52088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658368" y="5212080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Property (5.1) and Health (5.0) sit above the 4.71 portfolio line while contributing only ~40% of premium. Vehicle is the largest line and the lowest loss ratio — the strongest earner.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7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7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Executive &amp; Regional Manager dashboards — policy_details × claim_history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WHAT THE DATA REVEALS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Premium Growth by Policy Year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Total annual premium on policies written each year (₹M)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" y="1828800"/>
            <a:ext cx="7583119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8607247" y="2103120"/>
            <a:ext cx="2926080" cy="1920240"/>
          </a:xfrm>
          <a:prstGeom prst="roundRect">
            <a:avLst>
              <a:gd name="adj" fmla="val 2857"/>
            </a:avLst>
          </a:prstGeom>
          <a:solidFill>
            <a:srgbClr val="F3EDE4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8881567" y="228600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6.7×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881567" y="28803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growth 2020 → 2023. Treat 2024 as a partial writing year, not a confirmed decline.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8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8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Regional Manager dashboard — policy_details.policy_start_date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DISTRIBUTION HEALTH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Agent Productivity &amp; Lapse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300 agents · policies sold vs. lapse rate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58368" y="19202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57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58368" y="26974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agents above a 0.25 lapse rate — 19% of the force, holding 2,885 lapsed policies.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224528" y="1737360"/>
            <a:ext cx="730879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Highest-lapse agents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9"/>
          <p:cNvGraphicFramePr/>
          <p:nvPr/>
        </p:nvGraphicFramePr>
        <p:xfrm>
          <a:off x="4224528" y="2011680"/>
          <a:ext cx="7308800" cy="2816275"/>
        </p:xfrm>
        <a:graphic>
          <a:graphicData uri="http://schemas.openxmlformats.org/drawingml/2006/table">
            <a:tbl>
              <a:tblPr>
                <a:noFill/>
                <a:tableStyleId>{9AC1EBD8-D550-4048-A030-C8A7D3990994}</a:tableStyleId>
              </a:tblPr>
              <a:tblGrid>
                <a:gridCol w="219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Sold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Lapse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AGT5079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AGT5207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AGT5190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255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AGT5264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AGT5154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184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AGT5168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101600" marB="1016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39" name="Google Shape;139;p9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9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agent_info — lapsed_policies ÷ total_policies_sold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STATISTICAL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What the Statistics Confirm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Three hypotheses tested on the full claim population (n = 1,406)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658368" y="1828800"/>
            <a:ext cx="331409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914400" y="2057400"/>
            <a:ext cx="280202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Does claim type drive approval?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914400" y="2697480"/>
            <a:ext cx="28020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Chi-square test of independence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914400" y="3127248"/>
            <a:ext cx="28020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χ² = 6.28 · df = 8 · p = 0.616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914400" y="3611880"/>
            <a:ext cx="1691640" cy="310896"/>
          </a:xfrm>
          <a:prstGeom prst="roundRect">
            <a:avLst>
              <a:gd name="adj" fmla="val 47059"/>
            </a:avLst>
          </a:prstGeom>
          <a:solidFill>
            <a:srgbClr val="EDE3D8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914400" y="3611880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E2C34"/>
                </a:solidFill>
                <a:latin typeface="Calibri"/>
                <a:ea typeface="Calibri"/>
                <a:cs typeface="Calibri"/>
                <a:sym typeface="Calibri"/>
              </a:rPr>
              <a:t>NOT 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14400" y="4069080"/>
            <a:ext cx="280202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Approval decisions are not linked to claim type.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283354" y="1828800"/>
            <a:ext cx="331409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4539386" y="2057400"/>
            <a:ext cx="280202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Does risk score predict claim size?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539386" y="2697480"/>
            <a:ext cx="28020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Pearson correlation (Fisher’s Z CI)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539386" y="3127248"/>
            <a:ext cx="28020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r = −0.016 · p = 0.557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539386" y="3611880"/>
            <a:ext cx="1691640" cy="310896"/>
          </a:xfrm>
          <a:prstGeom prst="roundRect">
            <a:avLst>
              <a:gd name="adj" fmla="val 47059"/>
            </a:avLst>
          </a:prstGeom>
          <a:solidFill>
            <a:srgbClr val="EDE3D8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4539386" y="3611880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E2C34"/>
                </a:solidFill>
                <a:latin typeface="Calibri"/>
                <a:ea typeface="Calibri"/>
                <a:cs typeface="Calibri"/>
                <a:sym typeface="Calibri"/>
              </a:rPr>
              <a:t>NOT 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539386" y="4069080"/>
            <a:ext cx="280202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Risk score does not explain claim value.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908341" y="1828800"/>
            <a:ext cx="331409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8164373" y="2057400"/>
            <a:ext cx="280202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Do smokers claim more?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8164373" y="2697480"/>
            <a:ext cx="28020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Welch’s two-sample t-test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8164373" y="3127248"/>
            <a:ext cx="28020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t = 1.88 · p = 0.060 · Δ = ₹14.1K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164373" y="3611880"/>
            <a:ext cx="1691640" cy="310896"/>
          </a:xfrm>
          <a:prstGeom prst="roundRect">
            <a:avLst>
              <a:gd name="adj" fmla="val 47059"/>
            </a:avLst>
          </a:prstGeom>
          <a:solidFill>
            <a:srgbClr val="EDE3D8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8164373" y="3611880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E2C34"/>
                </a:solidFill>
                <a:latin typeface="Calibri"/>
                <a:ea typeface="Calibri"/>
                <a:cs typeface="Calibri"/>
                <a:sym typeface="Calibri"/>
              </a:rPr>
              <a:t>NOT 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164373" y="4069080"/>
            <a:ext cx="280202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Directionally higher, not significant at α = 0.05.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0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10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Python EDA &amp; statistical testing notebook — claim_history × policy_details × customer_master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Interactive Drill-Down Dashboards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Region, product, claim status and date slicers drive every figure in this deck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" y="1828800"/>
            <a:ext cx="520888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448" y="1828800"/>
            <a:ext cx="52088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/>
          <p:nvPr/>
        </p:nvSpPr>
        <p:spPr>
          <a:xfrm>
            <a:off x="658368" y="4846320"/>
            <a:ext cx="520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Executive view — portfolio KPIs, loss and fraud by region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324448" y="4846320"/>
            <a:ext cx="520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Regional manager view — agent-level drill-down across 300 agents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58368" y="5349240"/>
            <a:ext cx="1087495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Both views are live and filterable; every slide figure can be reproduced by applying the matching slicer combination.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1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11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ageis_risk_analytics_Dashboard.pdf — Executive and Regional Manager pages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STRATEGIC INSIGHTS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Top Five Findings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Each finding traces to a single verifiable figure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58368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1225296" y="17830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North is the fraud epicentre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510528" y="17830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53.5%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522208" y="1783080"/>
            <a:ext cx="30111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vs 49.0% portfolio · ₹29.8M flagged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2"/>
          <p:cNvCxnSpPr/>
          <p:nvPr/>
        </p:nvCxnSpPr>
        <p:spPr>
          <a:xfrm>
            <a:off x="658368" y="2350008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p12"/>
          <p:cNvSpPr/>
          <p:nvPr/>
        </p:nvSpPr>
        <p:spPr>
          <a:xfrm>
            <a:off x="658368" y="24963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225296" y="249631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Property and Health erode margin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510528" y="249631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5.1 / 5.0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8522208" y="2496312"/>
            <a:ext cx="30111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loss ratio vs 4.71 portfolio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2"/>
          <p:cNvCxnSpPr/>
          <p:nvPr/>
        </p:nvCxnSpPr>
        <p:spPr>
          <a:xfrm>
            <a:off x="658368" y="3063240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12"/>
          <p:cNvSpPr/>
          <p:nvPr/>
        </p:nvSpPr>
        <p:spPr>
          <a:xfrm>
            <a:off x="658368" y="320954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225296" y="320954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Two-thirds of claims never pay out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510528" y="320954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35.9%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8522208" y="3209544"/>
            <a:ext cx="30111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approval rate · ₹117.6M pending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2"/>
          <p:cNvCxnSpPr/>
          <p:nvPr/>
        </p:nvCxnSpPr>
        <p:spPr>
          <a:xfrm>
            <a:off x="658368" y="3776472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12"/>
          <p:cNvSpPr/>
          <p:nvPr/>
        </p:nvSpPr>
        <p:spPr>
          <a:xfrm>
            <a:off x="658368" y="39227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225296" y="392277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One in five agents leaks policies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510528" y="3922776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57 agents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8522208" y="3922776"/>
            <a:ext cx="30111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above 0.25 lapse · 2,885 policies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2"/>
          <p:cNvCxnSpPr/>
          <p:nvPr/>
        </p:nvCxnSpPr>
        <p:spPr>
          <a:xfrm>
            <a:off x="658368" y="448970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2"/>
          <p:cNvSpPr/>
          <p:nvPr/>
        </p:nvSpPr>
        <p:spPr>
          <a:xfrm>
            <a:off x="658368" y="463600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225296" y="463600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Risk score has no predictive power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510528" y="4636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r = −0.016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8522208" y="4636008"/>
            <a:ext cx="30111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p = 0.557 · not significant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2"/>
          <p:cNvCxnSpPr/>
          <p:nvPr/>
        </p:nvCxnSpPr>
        <p:spPr>
          <a:xfrm>
            <a:off x="658368" y="5202936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12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12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Sources: Executive &amp; Regional dashboards, claim_history, agent_info, EDA notebook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DECISIONS REQUESTED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Three Decisions for the Board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Owner and success metric attached to each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58368" y="1874520"/>
            <a:ext cx="3314090" cy="2834640"/>
          </a:xfrm>
          <a:prstGeom prst="roundRect">
            <a:avLst>
              <a:gd name="adj" fmla="val 1935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658368" y="1874520"/>
            <a:ext cx="3314090" cy="82296"/>
          </a:xfrm>
          <a:prstGeom prst="rect">
            <a:avLst/>
          </a:prstGeom>
          <a:solidFill>
            <a:srgbClr val="7A3B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932688" y="21488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932688" y="2606040"/>
            <a:ext cx="2765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Fund a fraud investigation surge in North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932688" y="3611880"/>
            <a:ext cx="276545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932688" y="3813048"/>
            <a:ext cx="27654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Head of Claims Integrity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932688" y="4160520"/>
            <a:ext cx="276545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SUCCESS METRIC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932688" y="4361688"/>
            <a:ext cx="27654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North fraud ratio ≤ 49.0%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4283354" y="1874520"/>
            <a:ext cx="3314090" cy="2834640"/>
          </a:xfrm>
          <a:prstGeom prst="roundRect">
            <a:avLst>
              <a:gd name="adj" fmla="val 1935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4283354" y="1874520"/>
            <a:ext cx="3314090" cy="82296"/>
          </a:xfrm>
          <a:prstGeom prst="rect">
            <a:avLst/>
          </a:prstGeom>
          <a:solidFill>
            <a:srgbClr val="C491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4557674" y="21488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557674" y="2606040"/>
            <a:ext cx="2765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Approve repricing of Property and Health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557674" y="3611880"/>
            <a:ext cx="276545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4557674" y="3813048"/>
            <a:ext cx="27654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Chief Underwriting Officer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557674" y="4160520"/>
            <a:ext cx="276545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SUCCESS METRIC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557674" y="4361688"/>
            <a:ext cx="27654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Both lines ≤ 4.71 loss ratio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7908341" y="1874520"/>
            <a:ext cx="3314090" cy="2834640"/>
          </a:xfrm>
          <a:prstGeom prst="roundRect">
            <a:avLst>
              <a:gd name="adj" fmla="val 1935"/>
            </a:avLst>
          </a:prstGeom>
          <a:solidFill>
            <a:srgbClr val="FFFDF9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7908341" y="1874520"/>
            <a:ext cx="3314090" cy="82296"/>
          </a:xfrm>
          <a:prstGeom prst="rect">
            <a:avLst/>
          </a:prstGeom>
          <a:solidFill>
            <a:srgbClr val="8FA6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8182661" y="21488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C4919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8182661" y="2606040"/>
            <a:ext cx="2765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Clear the pending-claims backlog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8182661" y="3611880"/>
            <a:ext cx="276545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182661" y="3813048"/>
            <a:ext cx="27654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Claims Operations Lead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8182661" y="4160520"/>
            <a:ext cx="276545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SUCCESS METRIC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8182661" y="4361688"/>
            <a:ext cx="27654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Pending below 20% of claims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658368" y="5029200"/>
            <a:ext cx="108749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A fourth workstream — a structured retention programme for the 57 high-lapse agents — proceeds at management level and needs no board approval.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3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13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Recommendations map to findings 01–04 on the previous slide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PROJECTED IMPACT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What the Decisions Are Worth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Conservative estimates computed from the figures already presented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14"/>
          <p:cNvGraphicFramePr/>
          <p:nvPr/>
        </p:nvGraphicFramePr>
        <p:xfrm>
          <a:off x="658368" y="1828800"/>
          <a:ext cx="10872225" cy="2194600"/>
        </p:xfrm>
        <a:graphic>
          <a:graphicData uri="http://schemas.openxmlformats.org/drawingml/2006/table">
            <a:tbl>
              <a:tblPr>
                <a:noFill/>
                <a:tableStyleId>{9AC1EBD8-D550-4048-A030-C8A7D3990994}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movement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Basis of estimate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Estimated impact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 · North fraud surge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53.5% → 45.8%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17.6 fewer flagged claims × ₹242.6K avg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₹4.3M exposure removed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 · Property &amp; Health repricing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4.71 portfolio line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₹14.73M × 0.39 + ₹15.46M × 0.32 premium base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₹10.7M exposure closed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 · High-lapse agent programme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0.25+ → 0.15 median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2,885 lapsed policies, 20% retained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₹14.8M premium retained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127000" marB="1270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1" name="Google Shape;271;p14"/>
          <p:cNvSpPr/>
          <p:nvPr/>
        </p:nvSpPr>
        <p:spPr>
          <a:xfrm>
            <a:off x="658368" y="4800600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F3EDE4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1069848" y="4983480"/>
            <a:ext cx="1005199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E2C34"/>
                </a:solidFill>
                <a:latin typeface="Calibri"/>
                <a:ea typeface="Calibri"/>
                <a:cs typeface="Calibri"/>
                <a:sym typeface="Calibri"/>
              </a:rPr>
              <a:t>₹29.8M combined addressable exposure across the three actions — before any second-order retention or pricing effects.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4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" name="Google Shape;274;p14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Sources: claim_history (regional fraud value), policy_details (premium by product), agent_info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APPENDIX A1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Data Quality &amp; Lineage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Five tables, foreign-key validated, zero remediation required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658368" y="1965960"/>
            <a:ext cx="1900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1,648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658368" y="245059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Customer master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58368" y="2706624"/>
            <a:ext cx="19006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6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9A"/>
                </a:solidFill>
                <a:latin typeface="Calibri"/>
                <a:ea typeface="Calibri"/>
                <a:cs typeface="Calibri"/>
                <a:sym typeface="Calibri"/>
              </a:rPr>
              <a:t>✓ validated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2833360" y="1965960"/>
            <a:ext cx="1900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2,828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2833360" y="245059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Policy details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2833360" y="2706624"/>
            <a:ext cx="19006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6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9A"/>
                </a:solidFill>
                <a:latin typeface="Calibri"/>
                <a:ea typeface="Calibri"/>
                <a:cs typeface="Calibri"/>
                <a:sym typeface="Calibri"/>
              </a:rPr>
              <a:t>✓ validated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5008352" y="1965960"/>
            <a:ext cx="1900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1,406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5008352" y="245059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Claim history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5008352" y="2706624"/>
            <a:ext cx="19006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6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9A"/>
                </a:solidFill>
                <a:latin typeface="Calibri"/>
                <a:ea typeface="Calibri"/>
                <a:cs typeface="Calibri"/>
                <a:sym typeface="Calibri"/>
              </a:rPr>
              <a:t>✓ validated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7183344" y="1965960"/>
            <a:ext cx="1900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300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7183344" y="245059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Agent info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7183344" y="2706624"/>
            <a:ext cx="19006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6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9A"/>
                </a:solidFill>
                <a:latin typeface="Calibri"/>
                <a:ea typeface="Calibri"/>
                <a:cs typeface="Calibri"/>
                <a:sym typeface="Calibri"/>
              </a:rPr>
              <a:t>✓ validated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9358335" y="1965960"/>
            <a:ext cx="1900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1,000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9358335" y="2450592"/>
            <a:ext cx="1900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Customer feedback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9358335" y="2706624"/>
            <a:ext cx="19006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69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9A"/>
                </a:solidFill>
                <a:latin typeface="Calibri"/>
                <a:ea typeface="Calibri"/>
                <a:cs typeface="Calibri"/>
                <a:sym typeface="Calibri"/>
              </a:rPr>
              <a:t>✓ validated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58368" y="3520440"/>
            <a:ext cx="2444420" cy="1234440"/>
          </a:xfrm>
          <a:prstGeom prst="roundRect">
            <a:avLst>
              <a:gd name="adj" fmla="val 4444"/>
            </a:avLst>
          </a:prstGeom>
          <a:solidFill>
            <a:srgbClr val="F3EDE4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932688" y="3703320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932688" y="4187952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Duplicate rows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3377108" y="3520440"/>
            <a:ext cx="2444420" cy="1234440"/>
          </a:xfrm>
          <a:prstGeom prst="roundRect">
            <a:avLst>
              <a:gd name="adj" fmla="val 4444"/>
            </a:avLst>
          </a:prstGeom>
          <a:solidFill>
            <a:srgbClr val="F3EDE4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3651428" y="3703320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3651428" y="4187952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6095848" y="3520440"/>
            <a:ext cx="2444420" cy="1234440"/>
          </a:xfrm>
          <a:prstGeom prst="roundRect">
            <a:avLst>
              <a:gd name="adj" fmla="val 4444"/>
            </a:avLst>
          </a:prstGeom>
          <a:solidFill>
            <a:srgbClr val="F3EDE4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6370168" y="3703320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6370168" y="4187952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Invalid date sequences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8814587" y="3520440"/>
            <a:ext cx="2444420" cy="1234440"/>
          </a:xfrm>
          <a:prstGeom prst="roundRect">
            <a:avLst>
              <a:gd name="adj" fmla="val 4444"/>
            </a:avLst>
          </a:prstGeom>
          <a:solidFill>
            <a:srgbClr val="F3EDE4"/>
          </a:solidFill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9088907" y="3703320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2C34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5E2C34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9088907" y="4187952"/>
            <a:ext cx="1895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FK integrity, policy → customer &amp;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6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16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Python EDA notebook — data-quality checks; AegisLife DDL schema constraints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APPENDIX A2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Source Traceability — Portfolio &amp; Regional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Every figure mapped to its source table and the query or script that produced 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17"/>
          <p:cNvGraphicFramePr/>
          <p:nvPr/>
        </p:nvGraphicFramePr>
        <p:xfrm>
          <a:off x="658368" y="1828800"/>
          <a:ext cx="10872200" cy="4023400"/>
        </p:xfrm>
        <a:graphic>
          <a:graphicData uri="http://schemas.openxmlformats.org/drawingml/2006/table">
            <a:tbl>
              <a:tblPr>
                <a:noFill/>
                <a:tableStyleId>{9AC1EBD8-D550-4048-A030-C8A7D3990994}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 / figure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table(s)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query / Python output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 · Loss ratio 4.71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 × policy_details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Query #1 — SUM(claim_amount)/SUM(premium)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 · Fraud ratio 49.0%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claim_history.fraud_flag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EDA: fraud_flag.mean() on 1,406 claims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 · Approval rate 35.9%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claim_history.claim_status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EDA: value_counts(normalize=True)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 · Paid ratio 1.69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 (approved only)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Query #1 filtered on status = Approved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 · Loss ratio by region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policy_details × customer_master.region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Query #2 — GROUP BY region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 · Fraud ratio by region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 × customer_master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EDA: groupby(region).fraud_flag.mean()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 · ₹29.8M flagged, North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claim_history.claim_amount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EDA: sum of fraud-flagged North claims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33" name="Google Shape;333;p17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Google Shape;334;p17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ageis_risk_analytics.ipynb · AegisLife_Combined_Data.xlsx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APPENDIX A2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Source Traceability — Product, Agents &amp; Tests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Every figure mapped to its source table and the query or script that produced 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4" name="Google Shape;344;p18"/>
          <p:cNvGraphicFramePr/>
          <p:nvPr/>
        </p:nvGraphicFramePr>
        <p:xfrm>
          <a:off x="658368" y="1828800"/>
          <a:ext cx="10872200" cy="4023400"/>
        </p:xfrm>
        <a:graphic>
          <a:graphicData uri="http://schemas.openxmlformats.org/drawingml/2006/table">
            <a:tbl>
              <a:tblPr>
                <a:noFill/>
                <a:tableStyleId>{9AC1EBD8-D550-4048-A030-C8A7D3990994}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 / figure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table(s)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2C34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5E2C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query / Python output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 · Premium by product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policy_details.annual_premium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Query #3 — GROUP BY product_type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 · Loss ratio by product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 × policy_details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Query #3 with claim join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 · Premium by policy year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policy_details.policy_start_date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EDA: resample by start-year, sum premium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 · Agent lapse rate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agent_info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lapsed_policies ÷ total_policies_sold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 · Chi-square, claim type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claim_history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scipy.stats.chi2_contingency output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 · Pearson correlation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customer_master × claim_history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scipy.stats.pearsonr + Fisher Z CI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 · Welch t-test, smokers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customer_master × claim_history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3C4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413C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scipy.stats.ttest_ind(equal_var=False)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114300" marB="114300" anchor="ctr">
                    <a:lnL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4DA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45" name="Google Shape;345;p18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18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ageis_risk_analytics.ipynb · AegisLife_Combined_Data.xlsx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APPENDIX A3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658368" y="621792"/>
            <a:ext cx="1087495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Method, Assumptions &amp; Limitations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658368" y="1188720"/>
            <a:ext cx="1087495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How the numbers were produced and where to treat them with care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658368" y="1874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Method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3127248" y="1874520"/>
            <a:ext cx="8406079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Excel/SQL extract of five source tables, joined on policy_id, customer_id and agent_id; analysis and testing in Python (pandas, scipy); dashboards built on the same joined view.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9"/>
          <p:cNvCxnSpPr/>
          <p:nvPr/>
        </p:nvCxnSpPr>
        <p:spPr>
          <a:xfrm>
            <a:off x="658368" y="2990088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19"/>
          <p:cNvSpPr/>
          <p:nvPr/>
        </p:nvSpPr>
        <p:spPr>
          <a:xfrm>
            <a:off x="658368" y="3200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Assumptions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3127248" y="3200400"/>
            <a:ext cx="8406079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Gross loss ratio uses all filed claims; paid ratio uses approved claims only. Impact estimates apply the stated conversion rates to current volumes with no pricing or inflation adjustment.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9"/>
          <p:cNvCxnSpPr/>
          <p:nvPr/>
        </p:nvCxnSpPr>
        <p:spPr>
          <a:xfrm>
            <a:off x="658368" y="4315968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19"/>
          <p:cNvSpPr/>
          <p:nvPr/>
        </p:nvSpPr>
        <p:spPr>
          <a:xfrm>
            <a:off x="658368" y="4526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3B44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7A3B44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3127248" y="4526280"/>
            <a:ext cx="8406079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13C4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13C46"/>
                </a:solidFill>
                <a:latin typeface="Calibri"/>
                <a:ea typeface="Calibri"/>
                <a:cs typeface="Calibri"/>
                <a:sym typeface="Calibri"/>
              </a:rPr>
              <a:t>2024 is a partial writing year and understates growth. Fraud flag indicates suspicion, not confirmed fraud. All three hypothesis tests failed to reject H₀, so no predictive claim is made from risk score, claim type or smoking status.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19"/>
          <p:cNvCxnSpPr/>
          <p:nvPr/>
        </p:nvCxnSpPr>
        <p:spPr>
          <a:xfrm>
            <a:off x="658368" y="5641848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5" name="Google Shape;365;p19"/>
          <p:cNvCxnSpPr/>
          <p:nvPr/>
        </p:nvCxnSpPr>
        <p:spPr>
          <a:xfrm>
            <a:off x="658368" y="6272784"/>
            <a:ext cx="10874959" cy="0"/>
          </a:xfrm>
          <a:prstGeom prst="straightConnector1">
            <a:avLst/>
          </a:prstGeom>
          <a:noFill/>
          <a:ln w="12700" cap="flat" cmpd="sng">
            <a:solidFill>
              <a:srgbClr val="E4DA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19"/>
          <p:cNvSpPr/>
          <p:nvPr/>
        </p:nvSpPr>
        <p:spPr>
          <a:xfrm>
            <a:off x="658368" y="6355080"/>
            <a:ext cx="996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391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B8391"/>
                </a:solidFill>
                <a:latin typeface="Calibri"/>
                <a:ea typeface="Calibri"/>
                <a:cs typeface="Calibri"/>
                <a:sym typeface="Calibri"/>
              </a:rPr>
              <a:t>Source: ageis_risk_analytics.ipynb — method, statistical outputs and known limitations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10984687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2C34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91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109728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F6EF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FBF6E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5"/>
          <p:cNvCxnSpPr/>
          <p:nvPr/>
        </p:nvCxnSpPr>
        <p:spPr>
          <a:xfrm>
            <a:off x="1097280" y="365760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8FA69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15"/>
          <p:cNvSpPr/>
          <p:nvPr/>
        </p:nvSpPr>
        <p:spPr>
          <a:xfrm>
            <a:off x="1097280" y="3886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D6D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E3D6D0"/>
                </a:solidFill>
                <a:latin typeface="Calibri"/>
                <a:ea typeface="Calibri"/>
                <a:cs typeface="Calibri"/>
                <a:sym typeface="Calibri"/>
              </a:rPr>
              <a:t>Questions and discussion welcome. Appendix follows: data quality, source traceability and method.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1097280" y="43891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919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4919A"/>
                </a:solidFill>
                <a:latin typeface="Calibri"/>
                <a:ea typeface="Calibri"/>
                <a:cs typeface="Calibri"/>
                <a:sym typeface="Calibri"/>
              </a:rPr>
              <a:t>AegisLife Insurance  ·  Risk Analytics &amp; Claims Intelligence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1757</Words>
  <Application>Microsoft Office PowerPoint</Application>
  <PresentationFormat>Widescreen</PresentationFormat>
  <Paragraphs>318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Kartik Tripathi</cp:lastModifiedBy>
  <cp:revision>3</cp:revision>
  <dcterms:modified xsi:type="dcterms:W3CDTF">2026-08-12T10:39:56Z</dcterms:modified>
</cp:coreProperties>
</file>